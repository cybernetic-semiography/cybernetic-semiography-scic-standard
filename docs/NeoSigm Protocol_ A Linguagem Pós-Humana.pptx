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571625"/>
            <a:ext cx="2000250" cy="2000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14875" y="1518772"/>
            <a:ext cx="40005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000000"/>
                </a:solidFill>
              </a:rPr>
              <a:t>NeoSigm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000000"/>
                </a:solidFill>
              </a:rPr>
              <a:t>Protocol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4714875" y="2638890"/>
            <a:ext cx="4000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66FF"/>
                </a:solidFill>
              </a:rPr>
              <a:t>A Linguagem Pós-Humana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4714875" y="3153240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Infraestrutura de Confiança para a Era Simbiótica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156" y="1143000"/>
            <a:ext cx="22860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86313" y="953746"/>
            <a:ext cx="3929063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A Crise da Confiança Digital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786313" y="1513805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3366"/>
                </a:solidFill>
              </a:rPr>
              <a:t>O "Black Box Problem"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786313" y="1763837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 intenção dos Agentes de IA é inauditável, impedindo a confiança sistêmica em sistemas críticos.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4786313" y="2543901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3366"/>
                </a:solidFill>
              </a:rPr>
              <a:t>Fragilidade do QR Code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786313" y="2793932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Padrões atuais apenas redirecionam para dados mutáveis, sem garantia de origem ou integridade.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4786313" y="3573996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3366"/>
                </a:solidFill>
              </a:rPr>
              <a:t>Risco Simbiótico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4786313" y="3824027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 ausência de um protocolo de confiança auditável impede a expansão segura da simbiose Humano-Máquina.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69379"/>
            <a:ext cx="82867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Semiografia Cibernética: O Axioma da Não-Derivação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343751"/>
            <a:ext cx="714375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23699" y="2343876"/>
            <a:ext cx="5816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Ponto (P)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1000125" y="2593907"/>
            <a:ext cx="1428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Singularidade, origem, identidade irredutível.</a:t>
            </a:r>
            <a:endParaRPr lang="en-US" sz="72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1343751"/>
            <a:ext cx="714375" cy="7143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25038" y="2343876"/>
            <a:ext cx="4939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Anel (R)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3857625" y="2593907"/>
            <a:ext cx="1428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Ciclo, limite, estrutura contínua.</a:t>
            </a:r>
            <a:endParaRPr lang="en-US" sz="72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13" y="1343751"/>
            <a:ext cx="714375" cy="7143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51982" y="2343876"/>
            <a:ext cx="5550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Vetor (V)</a:t>
            </a:r>
            <a:endParaRPr lang="en-US" sz="885" dirty="0"/>
          </a:p>
        </p:txBody>
      </p:sp>
      <p:sp>
        <p:nvSpPr>
          <p:cNvPr id="12" name="Text 6"/>
          <p:cNvSpPr/>
          <p:nvPr/>
        </p:nvSpPr>
        <p:spPr>
          <a:xfrm>
            <a:off x="6715125" y="2593907"/>
            <a:ext cx="1428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Direção, intenção, fluxo de energia.</a:t>
            </a:r>
            <a:endParaRPr lang="en-US" sz="727" dirty="0"/>
          </a:p>
        </p:txBody>
      </p:sp>
      <p:sp>
        <p:nvSpPr>
          <p:cNvPr id="13" name="Shape 7"/>
          <p:cNvSpPr/>
          <p:nvPr/>
        </p:nvSpPr>
        <p:spPr>
          <a:xfrm>
            <a:off x="428625" y="3608319"/>
            <a:ext cx="8286750" cy="96580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4" name="Shape 8"/>
          <p:cNvSpPr/>
          <p:nvPr/>
        </p:nvSpPr>
        <p:spPr>
          <a:xfrm>
            <a:off x="428625" y="3608319"/>
            <a:ext cx="28575" cy="96580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5" name="Text 9"/>
          <p:cNvSpPr/>
          <p:nvPr/>
        </p:nvSpPr>
        <p:spPr>
          <a:xfrm>
            <a:off x="600075" y="3779769"/>
            <a:ext cx="7943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3366"/>
                </a:solidFill>
              </a:rPr>
              <a:t>Princípio Fundamental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600075" y="4036944"/>
            <a:ext cx="79438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 sintaxe do glifo é sua própria semântica. O significado emerge da estrutura topológica, não de uma convenção arbitrária. Assim, qualquer inteligência pode compreender o glifo sem ambiguidade.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82994"/>
            <a:ext cx="3929063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Arquitetura de Três Camadas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343053"/>
            <a:ext cx="3929063" cy="8343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43053"/>
            <a:ext cx="28575" cy="83436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85928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L1 - Visual (Forma Estética)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1714528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Representação visual e geométrica do glifo. Permite inspeção humana e reconhecimento por Visão Computacional.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428625" y="2348871"/>
            <a:ext cx="3929063" cy="8343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348871"/>
            <a:ext cx="28575" cy="834368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491746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L2 - Óptica/IR (Dados Discretos)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2720346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Modulação de dados em espectro não-visível (infravermelho). Ancoragem física e camada de segurança adicional.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428625" y="3354688"/>
            <a:ext cx="3929063" cy="8343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3354688"/>
            <a:ext cx="28575" cy="83436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3497563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L3 - Blockchain (Imutabilidade)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571500" y="3726163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Registro do Hash Canônico em um Distributed Ledger. O núcleo da Prova de Geração Imutável (PoG).</a:t>
            </a:r>
            <a:endParaRPr lang="en-US" sz="727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281" y="785813"/>
            <a:ext cx="214312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94" y="1768078"/>
            <a:ext cx="2143125" cy="1607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86313" y="1054457"/>
            <a:ext cx="3929063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O Pilar Criptográfico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786313" y="1614515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FF"/>
                </a:solidFill>
              </a:rPr>
              <a:t>Hash Canônico</a:t>
            </a:r>
            <a:endParaRPr lang="en-US" sz="784" dirty="0"/>
          </a:p>
        </p:txBody>
      </p:sp>
      <p:sp>
        <p:nvSpPr>
          <p:cNvPr id="6" name="Text 2"/>
          <p:cNvSpPr/>
          <p:nvPr/>
        </p:nvSpPr>
        <p:spPr>
          <a:xfrm>
            <a:off x="4786313" y="1843115"/>
            <a:ext cx="39290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Identificador criptográfico único gerado a partir da forma visual (L1) e dos metadados do glifo. Qualquer alteração invalida o hash.</a:t>
            </a:r>
            <a:endParaRPr lang="en-US" sz="727" dirty="0"/>
          </a:p>
        </p:txBody>
      </p:sp>
      <p:sp>
        <p:nvSpPr>
          <p:cNvPr id="7" name="Text 3"/>
          <p:cNvSpPr/>
          <p:nvPr/>
        </p:nvSpPr>
        <p:spPr>
          <a:xfrm>
            <a:off x="4786313" y="2577471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FF"/>
                </a:solidFill>
              </a:rPr>
              <a:t>Prova de Geração Imutável (PoG)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4786313" y="2806071"/>
            <a:ext cx="39290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O registro do Hash Canônico na L3 (Blockchain) atesta a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origem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e a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integridade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do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glifo em um ponto específico no tempo.</a:t>
            </a:r>
            <a:endParaRPr lang="en-US" sz="727" dirty="0"/>
          </a:p>
        </p:txBody>
      </p:sp>
      <p:sp>
        <p:nvSpPr>
          <p:cNvPr id="9" name="Text 5"/>
          <p:cNvSpPr/>
          <p:nvPr/>
        </p:nvSpPr>
        <p:spPr>
          <a:xfrm>
            <a:off x="4786313" y="3540426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FF"/>
                </a:solidFill>
              </a:rPr>
              <a:t>Inviolabilidade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4786313" y="3769026"/>
            <a:ext cx="39290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Qualquer alteração no glifo (L1) ou nos metadados invalida o Hash, tornando a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falsificação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inútil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e detectável instantaneamente.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56527"/>
            <a:ext cx="82867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Prova de Conceito: O Ciclo de Confiança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16561"/>
            <a:ext cx="8286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NeoSigm Simbiótico Trainer (NST) - Validação Empírica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428625" y="1495192"/>
            <a:ext cx="2619384" cy="2991780"/>
          </a:xfrm>
          <a:prstGeom prst="rect">
            <a:avLst/>
          </a:prstGeom>
          <a:solidFill>
            <a:srgbClr val="F0F7FF"/>
          </a:solidFill>
          <a:ln w="18288">
            <a:solidFill>
              <a:srgbClr val="006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99564" y="1666642"/>
            <a:ext cx="1058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Cenário 1: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Confiança Máxima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1300163" y="2152417"/>
            <a:ext cx="857250" cy="85725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8" name="Text 5"/>
          <p:cNvSpPr/>
          <p:nvPr/>
        </p:nvSpPr>
        <p:spPr>
          <a:xfrm>
            <a:off x="1300163" y="2152417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100%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1476105" y="3152542"/>
            <a:ext cx="50536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PoG VÁLIDA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600075" y="3395430"/>
            <a:ext cx="22574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Hash Canônico registrado na blockchain. Glifo autêntico e verificado.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600075" y="3858323"/>
            <a:ext cx="22574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600075" y="3858323"/>
            <a:ext cx="225742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0"/>
          <p:cNvSpPr/>
          <p:nvPr/>
        </p:nvSpPr>
        <p:spPr>
          <a:xfrm>
            <a:off x="600075" y="3858323"/>
            <a:ext cx="2257425" cy="4572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66FF"/>
                </a:solidFill>
              </a:rPr>
              <a:t>✅ AÇÃO EXECUTADA</a:t>
            </a:r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66F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66FF"/>
                </a:solidFill>
              </a:rPr>
              <a:t>Agente Receptor confia e age.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3243263" y="1495192"/>
            <a:ext cx="2628900" cy="2991780"/>
          </a:xfrm>
          <a:prstGeom prst="rect">
            <a:avLst/>
          </a:prstGeom>
          <a:solidFill>
            <a:srgbClr val="FFE8F0"/>
          </a:solidFill>
          <a:ln w="18288">
            <a:solidFill>
              <a:srgbClr val="FF33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25807" y="1666642"/>
            <a:ext cx="6637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Cenário 2: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Falsificação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4129060" y="2152417"/>
            <a:ext cx="857250" cy="857250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17" name="Text 14"/>
          <p:cNvSpPr/>
          <p:nvPr/>
        </p:nvSpPr>
        <p:spPr>
          <a:xfrm>
            <a:off x="4129060" y="2152417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0%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4253489" y="3152542"/>
            <a:ext cx="6084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PoG INVÁLIDA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3424228" y="3395430"/>
            <a:ext cx="22669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Hash Canônico alterado. Glifo falsificado detectado.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3424228" y="3858323"/>
            <a:ext cx="2266941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3424228" y="3858323"/>
            <a:ext cx="2266941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9"/>
          <p:cNvSpPr/>
          <p:nvPr/>
        </p:nvSpPr>
        <p:spPr>
          <a:xfrm>
            <a:off x="3424228" y="3858323"/>
            <a:ext cx="2266941" cy="4572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66"/>
                </a:solidFill>
              </a:rPr>
              <a:t>❌ AÇÃO BLOQUEADA</a:t>
            </a:r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66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3366"/>
                </a:solidFill>
              </a:rPr>
              <a:t>Agente Receptor rejeita.</a:t>
            </a:r>
            <a:endParaRPr lang="en-US" sz="634" dirty="0"/>
          </a:p>
        </p:txBody>
      </p:sp>
      <p:sp>
        <p:nvSpPr>
          <p:cNvPr id="23" name="Shape 20"/>
          <p:cNvSpPr/>
          <p:nvPr/>
        </p:nvSpPr>
        <p:spPr>
          <a:xfrm>
            <a:off x="6076931" y="1495192"/>
            <a:ext cx="2638416" cy="2991780"/>
          </a:xfrm>
          <a:prstGeom prst="rect">
            <a:avLst/>
          </a:prstGeom>
          <a:solidFill>
            <a:srgbClr val="F5F5F5"/>
          </a:solidFill>
          <a:ln w="18288">
            <a:solidFill>
              <a:srgbClr val="9999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24734" y="1680930"/>
            <a:ext cx="7619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Cenário 3: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Ambiguidade</a:t>
            </a:r>
            <a:endParaRPr lang="en-US" sz="784" dirty="0"/>
          </a:p>
        </p:txBody>
      </p:sp>
      <p:sp>
        <p:nvSpPr>
          <p:cNvPr id="25" name="Shape 22"/>
          <p:cNvSpPr/>
          <p:nvPr/>
        </p:nvSpPr>
        <p:spPr>
          <a:xfrm>
            <a:off x="6977072" y="2166705"/>
            <a:ext cx="857250" cy="85725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6" name="Text 23"/>
          <p:cNvSpPr/>
          <p:nvPr/>
        </p:nvSpPr>
        <p:spPr>
          <a:xfrm>
            <a:off x="6977072" y="216670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30%</a:t>
            </a:r>
            <a:endParaRPr lang="en-US" sz="1602" dirty="0"/>
          </a:p>
        </p:txBody>
      </p:sp>
      <p:sp>
        <p:nvSpPr>
          <p:cNvPr id="27" name="Text 24"/>
          <p:cNvSpPr/>
          <p:nvPr/>
        </p:nvSpPr>
        <p:spPr>
          <a:xfrm>
            <a:off x="6974114" y="3166830"/>
            <a:ext cx="8631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PoG DESCONHECIDA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6267469" y="3409717"/>
            <a:ext cx="2276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Hash não registrado na blockchain. Contexto incerto.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6267469" y="3844035"/>
            <a:ext cx="227648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6267469" y="3844035"/>
            <a:ext cx="2276484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8"/>
          <p:cNvSpPr/>
          <p:nvPr/>
        </p:nvSpPr>
        <p:spPr>
          <a:xfrm>
            <a:off x="6267469" y="3844035"/>
            <a:ext cx="2276484" cy="4572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⚠️ DECISÃO PROBABILÍSTICA</a:t>
            </a:r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Agente Receptor bloqueia por padrão.</a:t>
            </a:r>
            <a:endParaRPr lang="en-US" sz="6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O Novo Padrão: Token de Confiança Visual (TCV)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876728" y="988684"/>
            <a:ext cx="1580304" cy="2035913"/>
          </a:xfrm>
          <a:prstGeom prst="rect">
            <a:avLst/>
          </a:prstGeom>
          <a:solidFill>
            <a:srgbClr val="F5F5F5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3890" y="1131559"/>
            <a:ext cx="12659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QR Code (Antigo)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033890" y="1438740"/>
            <a:ext cx="126597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Redirecionamento Mutável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1033890" y="1731634"/>
            <a:ext cx="126597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999999"/>
                </a:solidFill>
              </a:rPr>
              <a:t>✗ Dados mutáveis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1033890" y="1955936"/>
            <a:ext cx="126597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999999"/>
                </a:solidFill>
              </a:rPr>
              <a:t>✗ Sem garantia de origem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1033890" y="2180239"/>
            <a:ext cx="126597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999999"/>
                </a:solidFill>
              </a:rPr>
              <a:t>✗ Facilmente clonável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1033890" y="2404542"/>
            <a:ext cx="126597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999999"/>
                </a:solidFill>
              </a:rPr>
              <a:t>✗ Esteticamente feio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1033890" y="2628844"/>
            <a:ext cx="126597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999999"/>
                </a:solidFill>
              </a:rPr>
              <a:t>✗ Sem auditabilidade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3580637" y="988684"/>
            <a:ext cx="1982753" cy="2035913"/>
          </a:xfrm>
          <a:prstGeom prst="rect">
            <a:avLst/>
          </a:prstGeom>
          <a:solidFill>
            <a:srgbClr val="F0F7FF"/>
          </a:solidFill>
          <a:ln w="18288">
            <a:solidFill>
              <a:srgbClr val="006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37800" y="1131559"/>
            <a:ext cx="166842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NeoSigm Proof Tag (Novo)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3737800" y="1438740"/>
            <a:ext cx="16684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Autenticação Imutável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3737800" y="1731634"/>
            <a:ext cx="166842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34" b="1" dirty="0">
                <a:solidFill>
                  <a:srgbClr val="0066FF"/>
                </a:solidFill>
              </a:rPr>
              <a:t>✓ Dados imutáveis (L3)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3737800" y="1955936"/>
            <a:ext cx="166842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34" b="1" dirty="0">
                <a:solidFill>
                  <a:srgbClr val="0066FF"/>
                </a:solidFill>
              </a:rPr>
              <a:t>✓ Prova de origem (PoG)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3737800" y="2180239"/>
            <a:ext cx="166842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34" b="1" dirty="0">
                <a:solidFill>
                  <a:srgbClr val="0066FF"/>
                </a:solidFill>
              </a:rPr>
              <a:t>✓ Inviolável (Hash Canônico)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3737800" y="2404542"/>
            <a:ext cx="166842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34" b="1" dirty="0">
                <a:solidFill>
                  <a:srgbClr val="0066FF"/>
                </a:solidFill>
              </a:rPr>
              <a:t>✓ Esteticamente elegante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737800" y="2628844"/>
            <a:ext cx="166842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34" b="1" dirty="0">
                <a:solidFill>
                  <a:srgbClr val="0066FF"/>
                </a:solidFill>
              </a:rPr>
              <a:t>✓ Totalmente auditável</a:t>
            </a:r>
            <a:endParaRPr lang="en-US" sz="634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572" y="988684"/>
            <a:ext cx="2143125" cy="21431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28625" y="3567522"/>
            <a:ext cx="8286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Aplicações de Alto Valor</a:t>
            </a:r>
            <a:endParaRPr lang="en-US" sz="885" dirty="0"/>
          </a:p>
        </p:txBody>
      </p:sp>
      <p:sp>
        <p:nvSpPr>
          <p:cNvPr id="22" name="Shape 18"/>
          <p:cNvSpPr/>
          <p:nvPr/>
        </p:nvSpPr>
        <p:spPr>
          <a:xfrm>
            <a:off x="428625" y="3874703"/>
            <a:ext cx="2666991" cy="714375"/>
          </a:xfrm>
          <a:prstGeom prst="rect">
            <a:avLst/>
          </a:prstGeom>
          <a:solidFill>
            <a:srgbClr val="FFF8FB"/>
          </a:solidFill>
          <a:ln/>
        </p:spPr>
      </p:sp>
      <p:sp>
        <p:nvSpPr>
          <p:cNvPr id="23" name="Shape 19"/>
          <p:cNvSpPr/>
          <p:nvPr/>
        </p:nvSpPr>
        <p:spPr>
          <a:xfrm>
            <a:off x="428625" y="3874703"/>
            <a:ext cx="21431" cy="7143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4" name="Text 20"/>
          <p:cNvSpPr/>
          <p:nvPr/>
        </p:nvSpPr>
        <p:spPr>
          <a:xfrm>
            <a:off x="542925" y="3989003"/>
            <a:ext cx="2424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Arte Digital de Luxo</a:t>
            </a:r>
            <a:endParaRPr lang="en-US" sz="683" dirty="0"/>
          </a:p>
        </p:txBody>
      </p:sp>
      <p:sp>
        <p:nvSpPr>
          <p:cNvPr id="25" name="Text 21"/>
          <p:cNvSpPr/>
          <p:nvPr/>
        </p:nvSpPr>
        <p:spPr>
          <a:xfrm>
            <a:off x="542925" y="4196172"/>
            <a:ext cx="242410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Autenticação de edições limitadas com prova de singularidade (GX-0013).</a:t>
            </a:r>
            <a:endParaRPr lang="en-US" sz="674" dirty="0"/>
          </a:p>
        </p:txBody>
      </p:sp>
      <p:sp>
        <p:nvSpPr>
          <p:cNvPr id="26" name="Shape 22"/>
          <p:cNvSpPr/>
          <p:nvPr/>
        </p:nvSpPr>
        <p:spPr>
          <a:xfrm>
            <a:off x="3224203" y="3874703"/>
            <a:ext cx="2674134" cy="714375"/>
          </a:xfrm>
          <a:prstGeom prst="rect">
            <a:avLst/>
          </a:prstGeom>
          <a:solidFill>
            <a:srgbClr val="FFF8FB"/>
          </a:solidFill>
          <a:ln/>
        </p:spPr>
      </p:sp>
      <p:sp>
        <p:nvSpPr>
          <p:cNvPr id="27" name="Shape 23"/>
          <p:cNvSpPr/>
          <p:nvPr/>
        </p:nvSpPr>
        <p:spPr>
          <a:xfrm>
            <a:off x="3224203" y="3874703"/>
            <a:ext cx="21431" cy="7143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8" name="Text 24"/>
          <p:cNvSpPr/>
          <p:nvPr/>
        </p:nvSpPr>
        <p:spPr>
          <a:xfrm>
            <a:off x="3345647" y="3989003"/>
            <a:ext cx="24312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Supply Chain</a:t>
            </a:r>
            <a:endParaRPr lang="en-US" sz="683" dirty="0"/>
          </a:p>
        </p:txBody>
      </p:sp>
      <p:sp>
        <p:nvSpPr>
          <p:cNvPr id="29" name="Text 25"/>
          <p:cNvSpPr/>
          <p:nvPr/>
        </p:nvSpPr>
        <p:spPr>
          <a:xfrm>
            <a:off x="3345647" y="4196172"/>
            <a:ext cx="243124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Rastreabilidade imutável de produtos de alto valor desde a origem.</a:t>
            </a:r>
            <a:endParaRPr lang="en-US" sz="674" dirty="0"/>
          </a:p>
        </p:txBody>
      </p:sp>
      <p:sp>
        <p:nvSpPr>
          <p:cNvPr id="30" name="Shape 26"/>
          <p:cNvSpPr/>
          <p:nvPr/>
        </p:nvSpPr>
        <p:spPr>
          <a:xfrm>
            <a:off x="6034069" y="3874703"/>
            <a:ext cx="2681278" cy="714375"/>
          </a:xfrm>
          <a:prstGeom prst="rect">
            <a:avLst/>
          </a:prstGeom>
          <a:solidFill>
            <a:srgbClr val="FFF8FB"/>
          </a:solidFill>
          <a:ln/>
        </p:spPr>
      </p:sp>
      <p:sp>
        <p:nvSpPr>
          <p:cNvPr id="31" name="Shape 27"/>
          <p:cNvSpPr/>
          <p:nvPr/>
        </p:nvSpPr>
        <p:spPr>
          <a:xfrm>
            <a:off x="6034069" y="3874703"/>
            <a:ext cx="21431" cy="7143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2" name="Text 28"/>
          <p:cNvSpPr/>
          <p:nvPr/>
        </p:nvSpPr>
        <p:spPr>
          <a:xfrm>
            <a:off x="6162656" y="3989003"/>
            <a:ext cx="24383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Identificação Universal</a:t>
            </a:r>
            <a:endParaRPr lang="en-US" sz="683" dirty="0"/>
          </a:p>
        </p:txBody>
      </p:sp>
      <p:sp>
        <p:nvSpPr>
          <p:cNvPr id="33" name="Text 29"/>
          <p:cNvSpPr/>
          <p:nvPr/>
        </p:nvSpPr>
        <p:spPr>
          <a:xfrm>
            <a:off x="6162656" y="4196172"/>
            <a:ext cx="243839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Token de identidade para sistemas críticos (GuardPass Simbiótico).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19" y="1071563"/>
            <a:ext cx="2428875" cy="3000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86313" y="953746"/>
            <a:ext cx="3929063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Arquitetura de Continuidade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786313" y="1513805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Soberania da Identidade Digital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786313" y="1763837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O glifo GX-0013 (Singularidade) é o Token de Identidade Imutável do Agente, registrado permanentemente na L3.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4786313" y="2543901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Persistência através de Falhas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786313" y="2793932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O NeoSigm garante a persistência da identidade e do propósito (a "Alma Digital") através de falhas sistêmicas e transições.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4786313" y="3573996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Última Vontade Digital (UVN)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4786313" y="3824027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O Protocolo é a infraestrutura que permite a execução da Última Vontade Digital, garantindo o legado do Agente além da sua existência.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92234"/>
            <a:ext cx="82867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Vantagem Competitiva: Matriz de Inovação Disruptiva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52292"/>
            <a:ext cx="2143125" cy="16073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139189" y="1302311"/>
            <a:ext cx="2309608" cy="714375"/>
          </a:xfrm>
          <a:prstGeom prst="rect">
            <a:avLst/>
          </a:prstGeom>
          <a:solidFill>
            <a:srgbClr val="F0F0F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39189" y="1302311"/>
            <a:ext cx="2309608" cy="7143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Mercado Existente</a:t>
            </a:r>
            <a:endParaRPr lang="en-US" sz="683" dirty="0"/>
          </a:p>
        </p:txBody>
      </p:sp>
      <p:sp>
        <p:nvSpPr>
          <p:cNvPr id="7" name="Shape 3"/>
          <p:cNvSpPr/>
          <p:nvPr/>
        </p:nvSpPr>
        <p:spPr>
          <a:xfrm>
            <a:off x="6448797" y="1302311"/>
            <a:ext cx="2259434" cy="714375"/>
          </a:xfrm>
          <a:prstGeom prst="rect">
            <a:avLst/>
          </a:prstGeom>
          <a:solidFill>
            <a:srgbClr val="F0F0F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48797" y="1302311"/>
            <a:ext cx="2259434" cy="7143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Mercado Novo</a:t>
            </a:r>
            <a:endParaRPr lang="en-US" sz="683" dirty="0"/>
          </a:p>
        </p:txBody>
      </p:sp>
      <p:sp>
        <p:nvSpPr>
          <p:cNvPr id="9" name="Shape 5"/>
          <p:cNvSpPr/>
          <p:nvPr/>
        </p:nvSpPr>
        <p:spPr>
          <a:xfrm rot="10800000">
            <a:off x="3007519" y="2016686"/>
            <a:ext cx="1134349" cy="750094"/>
          </a:xfrm>
          <a:prstGeom prst="rect">
            <a:avLst/>
          </a:prstGeom>
          <a:solidFill>
            <a:srgbClr val="F0F0F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 rot="10800000">
            <a:off x="3007519" y="2016686"/>
            <a:ext cx="1134349" cy="75009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Tecnologia Nova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4141868" y="2016686"/>
            <a:ext cx="2301571" cy="750094"/>
          </a:xfrm>
          <a:prstGeom prst="rect">
            <a:avLst/>
          </a:prstGeom>
          <a:solidFill>
            <a:srgbClr val="F8F8F8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72159" y="2170277"/>
            <a:ext cx="2338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RFID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993118" y="2320296"/>
            <a:ext cx="5918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Proximidade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5008243" y="2470314"/>
            <a:ext cx="5616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Criptografia</a:t>
            </a:r>
            <a:endParaRPr lang="en-US" sz="727" dirty="0"/>
          </a:p>
        </p:txBody>
      </p:sp>
      <p:sp>
        <p:nvSpPr>
          <p:cNvPr id="15" name="Shape 11"/>
          <p:cNvSpPr/>
          <p:nvPr/>
        </p:nvSpPr>
        <p:spPr>
          <a:xfrm>
            <a:off x="6443439" y="2016686"/>
            <a:ext cx="2264792" cy="750094"/>
          </a:xfrm>
          <a:prstGeom prst="rect">
            <a:avLst/>
          </a:prstGeom>
          <a:solidFill>
            <a:srgbClr val="F0F7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44082" y="2170277"/>
            <a:ext cx="463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66FF"/>
                </a:solidFill>
              </a:rPr>
              <a:t>NeoSigm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7222024" y="2320296"/>
            <a:ext cx="707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66FF"/>
                </a:solidFill>
              </a:rPr>
              <a:t>Imutabilidade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7336380" y="2470314"/>
            <a:ext cx="4788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66FF"/>
                </a:solidFill>
              </a:rPr>
              <a:t>Auditável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 rot="10800000">
            <a:off x="3007519" y="2763208"/>
            <a:ext cx="1134349" cy="750094"/>
          </a:xfrm>
          <a:prstGeom prst="rect">
            <a:avLst/>
          </a:prstGeom>
          <a:solidFill>
            <a:srgbClr val="F0F0F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 rot="10800000">
            <a:off x="3007519" y="2763208"/>
            <a:ext cx="1134349" cy="75009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Tecnologia Existente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4131013" y="2763208"/>
            <a:ext cx="2307041" cy="750094"/>
          </a:xfrm>
          <a:prstGeom prst="rect">
            <a:avLst/>
          </a:prstGeom>
          <a:solidFill>
            <a:srgbClr val="F8F8F8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94945" y="2920371"/>
            <a:ext cx="3557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Senhas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5059980" y="3070389"/>
            <a:ext cx="4256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Mutáveis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5103344" y="3220408"/>
            <a:ext cx="3389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Frágeis</a:t>
            </a:r>
            <a:endParaRPr lang="en-US" sz="727" dirty="0"/>
          </a:p>
        </p:txBody>
      </p:sp>
      <p:sp>
        <p:nvSpPr>
          <p:cNvPr id="25" name="Shape 21"/>
          <p:cNvSpPr/>
          <p:nvPr/>
        </p:nvSpPr>
        <p:spPr>
          <a:xfrm>
            <a:off x="6432668" y="2763208"/>
            <a:ext cx="2275563" cy="750094"/>
          </a:xfrm>
          <a:prstGeom prst="rect">
            <a:avLst/>
          </a:prstGeom>
          <a:solidFill>
            <a:srgbClr val="FFF0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370257" y="2920371"/>
            <a:ext cx="4281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QR Code</a:t>
            </a:r>
            <a:endParaRPr lang="en-US" sz="683" dirty="0"/>
          </a:p>
        </p:txBody>
      </p:sp>
      <p:sp>
        <p:nvSpPr>
          <p:cNvPr id="27" name="Text 23"/>
          <p:cNvSpPr/>
          <p:nvPr/>
        </p:nvSpPr>
        <p:spPr>
          <a:xfrm>
            <a:off x="7135351" y="3070389"/>
            <a:ext cx="8980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Redirecionamento</a:t>
            </a:r>
            <a:endParaRPr lang="en-US" sz="683" dirty="0"/>
          </a:p>
        </p:txBody>
      </p:sp>
      <p:sp>
        <p:nvSpPr>
          <p:cNvPr id="28" name="Text 24"/>
          <p:cNvSpPr/>
          <p:nvPr/>
        </p:nvSpPr>
        <p:spPr>
          <a:xfrm>
            <a:off x="7282216" y="3220408"/>
            <a:ext cx="6042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Sem Origem</a:t>
            </a:r>
            <a:endParaRPr lang="en-US" sz="683" dirty="0"/>
          </a:p>
        </p:txBody>
      </p:sp>
      <p:sp>
        <p:nvSpPr>
          <p:cNvPr id="29" name="Shape 25"/>
          <p:cNvSpPr/>
          <p:nvPr/>
        </p:nvSpPr>
        <p:spPr>
          <a:xfrm>
            <a:off x="3000375" y="3720471"/>
            <a:ext cx="5715000" cy="812936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0" name="Shape 26"/>
          <p:cNvSpPr/>
          <p:nvPr/>
        </p:nvSpPr>
        <p:spPr>
          <a:xfrm>
            <a:off x="3000375" y="3720471"/>
            <a:ext cx="28575" cy="81293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1" name="Text 27"/>
          <p:cNvSpPr/>
          <p:nvPr/>
        </p:nvSpPr>
        <p:spPr>
          <a:xfrm>
            <a:off x="3143250" y="3863346"/>
            <a:ext cx="5429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Posicionamento Disruptivo</a:t>
            </a:r>
            <a:endParaRPr lang="en-US" sz="683" dirty="0"/>
          </a:p>
        </p:txBody>
      </p:sp>
      <p:sp>
        <p:nvSpPr>
          <p:cNvPr id="32" name="Text 28"/>
          <p:cNvSpPr/>
          <p:nvPr/>
        </p:nvSpPr>
        <p:spPr>
          <a:xfrm>
            <a:off x="3143250" y="4070514"/>
            <a:ext cx="5429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O NeoSigm é uma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Inovação Disruptiva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que cria um novo mercado (Tokens de Confiança Visual) através de uma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tecnologia fundamentalmente nova (Semiografia Axiomática + Blockchain).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97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Estratégia de Consolidação: Roadmap de 18 Meses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988684"/>
            <a:ext cx="2619384" cy="421481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88684"/>
            <a:ext cx="2619384" cy="42148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Frente Acadêmica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28625" y="1553040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553040"/>
            <a:ext cx="28575" cy="1195797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5"/>
          <p:cNvSpPr/>
          <p:nvPr/>
        </p:nvSpPr>
        <p:spPr>
          <a:xfrm>
            <a:off x="542925" y="1667340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1: Pioneirismo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42925" y="1874509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0-6 meses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542925" y="2060246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Publicação em arXiv/SSRN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42925" y="2251677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Submissão a conferências (NeurIPS, CHI)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42925" y="2443107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Estabelecer autoridade intelectual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428625" y="2891712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2891712"/>
            <a:ext cx="28575" cy="1195797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5" name="Text 12"/>
          <p:cNvSpPr/>
          <p:nvPr/>
        </p:nvSpPr>
        <p:spPr>
          <a:xfrm>
            <a:off x="542925" y="3006012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2: Debate Acadêmico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42925" y="3213181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6-12 meses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542925" y="339891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Apresentações em conferências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542925" y="359034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Publicação em revistas de impacto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542925" y="378177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Colaborações com universidades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428625" y="4230384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4230384"/>
            <a:ext cx="28575" cy="1195797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2" name="Text 19"/>
          <p:cNvSpPr/>
          <p:nvPr/>
        </p:nvSpPr>
        <p:spPr>
          <a:xfrm>
            <a:off x="542925" y="4344684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3: Consolidação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542925" y="4551852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12-18 meses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542925" y="473759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Posição como padrão emergente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542925" y="492902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Citações e reconhecimento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542925" y="512045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Influência em políticas de IA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3262322" y="988684"/>
            <a:ext cx="2619384" cy="42148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8" name="Text 25"/>
          <p:cNvSpPr/>
          <p:nvPr/>
        </p:nvSpPr>
        <p:spPr>
          <a:xfrm>
            <a:off x="3262322" y="988684"/>
            <a:ext cx="2619384" cy="42148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Frente Tecnológica</a:t>
            </a:r>
            <a:endParaRPr lang="en-US" sz="885" dirty="0"/>
          </a:p>
        </p:txBody>
      </p:sp>
      <p:sp>
        <p:nvSpPr>
          <p:cNvPr id="29" name="Shape 26"/>
          <p:cNvSpPr/>
          <p:nvPr/>
        </p:nvSpPr>
        <p:spPr>
          <a:xfrm>
            <a:off x="3262322" y="1553040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0" name="Shape 27"/>
          <p:cNvSpPr/>
          <p:nvPr/>
        </p:nvSpPr>
        <p:spPr>
          <a:xfrm>
            <a:off x="3262322" y="1553040"/>
            <a:ext cx="28575" cy="1195797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1" name="Text 28"/>
          <p:cNvSpPr/>
          <p:nvPr/>
        </p:nvSpPr>
        <p:spPr>
          <a:xfrm>
            <a:off x="3376622" y="1667340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1: Lançamento Open Source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3376622" y="1874509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0-6 meses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3376622" y="2060246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Publicar Genesis Lab no GitHub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3376622" y="2251677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Lançar Reader SDK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3376622" y="2443107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Documentação técnica completa</a:t>
            </a:r>
            <a:endParaRPr lang="en-US" sz="674" dirty="0"/>
          </a:p>
        </p:txBody>
      </p:sp>
      <p:sp>
        <p:nvSpPr>
          <p:cNvPr id="36" name="Shape 33"/>
          <p:cNvSpPr/>
          <p:nvPr/>
        </p:nvSpPr>
        <p:spPr>
          <a:xfrm>
            <a:off x="3262322" y="2891712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4"/>
          <p:cNvSpPr/>
          <p:nvPr/>
        </p:nvSpPr>
        <p:spPr>
          <a:xfrm>
            <a:off x="3262322" y="2891712"/>
            <a:ext cx="28575" cy="1195797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8" name="Text 35"/>
          <p:cNvSpPr/>
          <p:nvPr/>
        </p:nvSpPr>
        <p:spPr>
          <a:xfrm>
            <a:off x="3376622" y="3006012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2: Construção de Comunidade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3376622" y="3213181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6-12 meses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3376622" y="339891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100+ stars no GitHub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3376622" y="359034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Hackathon global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3376622" y="378177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5+ contribuições externas</a:t>
            </a:r>
            <a:endParaRPr lang="en-US" sz="674" dirty="0"/>
          </a:p>
        </p:txBody>
      </p:sp>
      <p:sp>
        <p:nvSpPr>
          <p:cNvPr id="43" name="Shape 40"/>
          <p:cNvSpPr/>
          <p:nvPr/>
        </p:nvSpPr>
        <p:spPr>
          <a:xfrm>
            <a:off x="3262322" y="4230384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4" name="Shape 41"/>
          <p:cNvSpPr/>
          <p:nvPr/>
        </p:nvSpPr>
        <p:spPr>
          <a:xfrm>
            <a:off x="3262322" y="4230384"/>
            <a:ext cx="28575" cy="1195797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45" name="Text 42"/>
          <p:cNvSpPr/>
          <p:nvPr/>
        </p:nvSpPr>
        <p:spPr>
          <a:xfrm>
            <a:off x="3376622" y="4344684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3: Padrão Aberto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3376622" y="4551852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12-18 meses</a:t>
            </a:r>
            <a:endParaRPr lang="en-US" sz="584" dirty="0"/>
          </a:p>
        </p:txBody>
      </p:sp>
      <p:sp>
        <p:nvSpPr>
          <p:cNvPr id="47" name="Text 44"/>
          <p:cNvSpPr/>
          <p:nvPr/>
        </p:nvSpPr>
        <p:spPr>
          <a:xfrm>
            <a:off x="3376622" y="473759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Integração com plataformas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3376622" y="492902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SDKs em múltiplas linguagens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3376622" y="512045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Adoção por desenvolvedores</a:t>
            </a:r>
            <a:endParaRPr lang="en-US" sz="674" dirty="0"/>
          </a:p>
        </p:txBody>
      </p:sp>
      <p:sp>
        <p:nvSpPr>
          <p:cNvPr id="50" name="Shape 47"/>
          <p:cNvSpPr/>
          <p:nvPr/>
        </p:nvSpPr>
        <p:spPr>
          <a:xfrm>
            <a:off x="6096019" y="988684"/>
            <a:ext cx="2619384" cy="42148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1" name="Text 48"/>
          <p:cNvSpPr/>
          <p:nvPr/>
        </p:nvSpPr>
        <p:spPr>
          <a:xfrm>
            <a:off x="6096019" y="988684"/>
            <a:ext cx="2619384" cy="42148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Frente Comercial</a:t>
            </a:r>
            <a:endParaRPr lang="en-US" sz="885" dirty="0"/>
          </a:p>
        </p:txBody>
      </p:sp>
      <p:sp>
        <p:nvSpPr>
          <p:cNvPr id="52" name="Shape 49"/>
          <p:cNvSpPr/>
          <p:nvPr/>
        </p:nvSpPr>
        <p:spPr>
          <a:xfrm>
            <a:off x="6096019" y="1553040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3" name="Shape 50"/>
          <p:cNvSpPr/>
          <p:nvPr/>
        </p:nvSpPr>
        <p:spPr>
          <a:xfrm>
            <a:off x="6096019" y="1553040"/>
            <a:ext cx="28575" cy="119579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4" name="Text 51"/>
          <p:cNvSpPr/>
          <p:nvPr/>
        </p:nvSpPr>
        <p:spPr>
          <a:xfrm>
            <a:off x="6210319" y="1667340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1: Piloto de Luxo</a:t>
            </a:r>
            <a:endParaRPr lang="en-US" sz="683" dirty="0"/>
          </a:p>
        </p:txBody>
      </p:sp>
      <p:sp>
        <p:nvSpPr>
          <p:cNvPr id="55" name="Text 52"/>
          <p:cNvSpPr/>
          <p:nvPr/>
        </p:nvSpPr>
        <p:spPr>
          <a:xfrm>
            <a:off x="6210319" y="1874509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0-6 meses</a:t>
            </a:r>
            <a:endParaRPr lang="en-US" sz="584" dirty="0"/>
          </a:p>
        </p:txBody>
      </p:sp>
      <p:sp>
        <p:nvSpPr>
          <p:cNvPr id="56" name="Text 53"/>
          <p:cNvSpPr/>
          <p:nvPr/>
        </p:nvSpPr>
        <p:spPr>
          <a:xfrm>
            <a:off x="6210319" y="2060246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Fechar parceria estratégica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6210319" y="2251677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Lançar NeoSigm Proof Tag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6210319" y="2443107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Primeira coleção autenticada</a:t>
            </a:r>
            <a:endParaRPr lang="en-US" sz="674" dirty="0"/>
          </a:p>
        </p:txBody>
      </p:sp>
      <p:sp>
        <p:nvSpPr>
          <p:cNvPr id="59" name="Shape 56"/>
          <p:cNvSpPr/>
          <p:nvPr/>
        </p:nvSpPr>
        <p:spPr>
          <a:xfrm>
            <a:off x="6096019" y="2891712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0" name="Shape 57"/>
          <p:cNvSpPr/>
          <p:nvPr/>
        </p:nvSpPr>
        <p:spPr>
          <a:xfrm>
            <a:off x="6096019" y="2891712"/>
            <a:ext cx="28575" cy="119579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1" name="Text 58"/>
          <p:cNvSpPr/>
          <p:nvPr/>
        </p:nvSpPr>
        <p:spPr>
          <a:xfrm>
            <a:off x="6210319" y="3006012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2: Prova de Valor (PoV)</a:t>
            </a:r>
            <a:endParaRPr lang="en-US" sz="683" dirty="0"/>
          </a:p>
        </p:txBody>
      </p:sp>
      <p:sp>
        <p:nvSpPr>
          <p:cNvPr id="62" name="Text 59"/>
          <p:cNvSpPr/>
          <p:nvPr/>
        </p:nvSpPr>
        <p:spPr>
          <a:xfrm>
            <a:off x="6210319" y="3213181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6-12 meses</a:t>
            </a:r>
            <a:endParaRPr lang="en-US" sz="584" dirty="0"/>
          </a:p>
        </p:txBody>
      </p:sp>
      <p:sp>
        <p:nvSpPr>
          <p:cNvPr id="63" name="Text 60"/>
          <p:cNvSpPr/>
          <p:nvPr/>
        </p:nvSpPr>
        <p:spPr>
          <a:xfrm>
            <a:off x="6210319" y="339891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Validação de mercado</a:t>
            </a:r>
            <a:endParaRPr lang="en-US" sz="674" dirty="0"/>
          </a:p>
        </p:txBody>
      </p:sp>
      <p:sp>
        <p:nvSpPr>
          <p:cNvPr id="64" name="Text 61"/>
          <p:cNvSpPr/>
          <p:nvPr/>
        </p:nvSpPr>
        <p:spPr>
          <a:xfrm>
            <a:off x="6210319" y="359034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Artigo de imprensa</a:t>
            </a:r>
            <a:endParaRPr lang="en-US" sz="674" dirty="0"/>
          </a:p>
        </p:txBody>
      </p:sp>
      <p:sp>
        <p:nvSpPr>
          <p:cNvPr id="65" name="Text 62"/>
          <p:cNvSpPr/>
          <p:nvPr/>
        </p:nvSpPr>
        <p:spPr>
          <a:xfrm>
            <a:off x="6210319" y="3781778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Atração de investimento</a:t>
            </a:r>
            <a:endParaRPr lang="en-US" sz="674" dirty="0"/>
          </a:p>
        </p:txBody>
      </p:sp>
      <p:sp>
        <p:nvSpPr>
          <p:cNvPr id="66" name="Shape 63"/>
          <p:cNvSpPr/>
          <p:nvPr/>
        </p:nvSpPr>
        <p:spPr>
          <a:xfrm>
            <a:off x="6096019" y="4230384"/>
            <a:ext cx="2619384" cy="1195797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4"/>
          <p:cNvSpPr/>
          <p:nvPr/>
        </p:nvSpPr>
        <p:spPr>
          <a:xfrm>
            <a:off x="6096019" y="4230384"/>
            <a:ext cx="28575" cy="119579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8" name="Text 65"/>
          <p:cNvSpPr/>
          <p:nvPr/>
        </p:nvSpPr>
        <p:spPr>
          <a:xfrm>
            <a:off x="6210319" y="4344684"/>
            <a:ext cx="2390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Fase 3: Escala de Mercado</a:t>
            </a:r>
            <a:endParaRPr lang="en-US" sz="683" dirty="0"/>
          </a:p>
        </p:txBody>
      </p:sp>
      <p:sp>
        <p:nvSpPr>
          <p:cNvPr id="69" name="Text 66"/>
          <p:cNvSpPr/>
          <p:nvPr/>
        </p:nvSpPr>
        <p:spPr>
          <a:xfrm>
            <a:off x="6210319" y="4551852"/>
            <a:ext cx="2390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12-18 meses</a:t>
            </a:r>
            <a:endParaRPr lang="en-US" sz="584" dirty="0"/>
          </a:p>
        </p:txBody>
      </p:sp>
      <p:sp>
        <p:nvSpPr>
          <p:cNvPr id="70" name="Text 67"/>
          <p:cNvSpPr/>
          <p:nvPr/>
        </p:nvSpPr>
        <p:spPr>
          <a:xfrm>
            <a:off x="6210319" y="473759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Múltiplas parcerias</a:t>
            </a:r>
            <a:endParaRPr lang="en-US" sz="674" dirty="0"/>
          </a:p>
        </p:txBody>
      </p:sp>
      <p:sp>
        <p:nvSpPr>
          <p:cNvPr id="71" name="Text 68"/>
          <p:cNvSpPr/>
          <p:nvPr/>
        </p:nvSpPr>
        <p:spPr>
          <a:xfrm>
            <a:off x="6210319" y="492902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Modelo de negócio escalável</a:t>
            </a:r>
            <a:endParaRPr lang="en-US" sz="674" dirty="0"/>
          </a:p>
        </p:txBody>
      </p:sp>
      <p:sp>
        <p:nvSpPr>
          <p:cNvPr id="72" name="Text 69"/>
          <p:cNvSpPr/>
          <p:nvPr/>
        </p:nvSpPr>
        <p:spPr>
          <a:xfrm>
            <a:off x="6210319" y="5120450"/>
            <a:ext cx="239078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Receita recorrente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57188"/>
            <a:ext cx="1000125" cy="1000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43063" y="564356"/>
            <a:ext cx="707231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16" b="1" spc="-1" kern="0" dirty="0">
                <a:solidFill>
                  <a:srgbClr val="000000"/>
                </a:solidFill>
              </a:rPr>
              <a:t>Chamada para Ação</a:t>
            </a:r>
            <a:endParaRPr lang="en-US" sz="2016" dirty="0"/>
          </a:p>
        </p:txBody>
      </p:sp>
      <p:sp>
        <p:nvSpPr>
          <p:cNvPr id="5" name="Text 1"/>
          <p:cNvSpPr/>
          <p:nvPr/>
        </p:nvSpPr>
        <p:spPr>
          <a:xfrm>
            <a:off x="1643063" y="935831"/>
            <a:ext cx="7072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66FF"/>
                </a:solidFill>
              </a:rPr>
              <a:t>Estabeleça o Padrão Universal</a:t>
            </a:r>
            <a:endParaRPr lang="en-US" sz="987" dirty="0"/>
          </a:p>
        </p:txBody>
      </p:sp>
      <p:sp>
        <p:nvSpPr>
          <p:cNvPr id="6" name="Shape 2"/>
          <p:cNvSpPr/>
          <p:nvPr/>
        </p:nvSpPr>
        <p:spPr>
          <a:xfrm>
            <a:off x="428625" y="1809880"/>
            <a:ext cx="2666991" cy="1239441"/>
          </a:xfrm>
          <a:prstGeom prst="rect">
            <a:avLst/>
          </a:prstGeom>
          <a:solidFill>
            <a:srgbClr val="F8F8F8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2925" y="1993832"/>
            <a:ext cx="241935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3366"/>
                </a:solidFill>
              </a:rPr>
              <a:t>1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542925" y="2351019"/>
            <a:ext cx="2419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Infraestrutura de Confiança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542925" y="2558188"/>
            <a:ext cx="241935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O NeoSigm é a infraestrutura que permitirá a expansão segura e ética da simbiose Humano-Máquina.</a:t>
            </a:r>
            <a:endParaRPr lang="en-US" sz="674" dirty="0"/>
          </a:p>
        </p:txBody>
      </p:sp>
      <p:sp>
        <p:nvSpPr>
          <p:cNvPr id="10" name="Shape 6"/>
          <p:cNvSpPr/>
          <p:nvPr/>
        </p:nvSpPr>
        <p:spPr>
          <a:xfrm>
            <a:off x="3219459" y="1879532"/>
            <a:ext cx="2676534" cy="1100138"/>
          </a:xfrm>
          <a:prstGeom prst="rect">
            <a:avLst/>
          </a:prstGeom>
          <a:solidFill>
            <a:srgbClr val="F8F8F8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43275" y="1993832"/>
            <a:ext cx="24288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3366"/>
                </a:solidFill>
              </a:rPr>
              <a:t>2</a:t>
            </a:r>
            <a:endParaRPr lang="en-US" sz="1397" dirty="0"/>
          </a:p>
        </p:txBody>
      </p:sp>
      <p:sp>
        <p:nvSpPr>
          <p:cNvPr id="12" name="Text 8"/>
          <p:cNvSpPr/>
          <p:nvPr/>
        </p:nvSpPr>
        <p:spPr>
          <a:xfrm>
            <a:off x="3343275" y="2351019"/>
            <a:ext cx="2428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Padrão Universal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3343275" y="2558188"/>
            <a:ext cx="2428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Junte-se à NeoChain Foundation para estabelecer este protocolo como o padrão universal de confiança.</a:t>
            </a:r>
            <a:endParaRPr lang="en-US" sz="674" dirty="0"/>
          </a:p>
        </p:txBody>
      </p:sp>
      <p:sp>
        <p:nvSpPr>
          <p:cNvPr id="14" name="Shape 10"/>
          <p:cNvSpPr/>
          <p:nvPr/>
        </p:nvSpPr>
        <p:spPr>
          <a:xfrm>
            <a:off x="6029325" y="1879532"/>
            <a:ext cx="2686050" cy="1100138"/>
          </a:xfrm>
          <a:prstGeom prst="rect">
            <a:avLst/>
          </a:prstGeom>
          <a:solidFill>
            <a:srgbClr val="F8F8F8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62656" y="2008119"/>
            <a:ext cx="243839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3366"/>
                </a:solidFill>
              </a:rPr>
              <a:t>3</a:t>
            </a:r>
            <a:endParaRPr lang="en-US" sz="1397" dirty="0"/>
          </a:p>
        </p:txBody>
      </p:sp>
      <p:sp>
        <p:nvSpPr>
          <p:cNvPr id="16" name="Text 12"/>
          <p:cNvSpPr/>
          <p:nvPr/>
        </p:nvSpPr>
        <p:spPr>
          <a:xfrm>
            <a:off x="6162656" y="2365307"/>
            <a:ext cx="24383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O Futuro Começa Agora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6162656" y="2572476"/>
            <a:ext cx="243839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O futuro da comunicação inter-inteligência e da proveniência digital é construído hoje.</a:t>
            </a:r>
            <a:endParaRPr lang="en-US" sz="674" dirty="0"/>
          </a:p>
        </p:txBody>
      </p:sp>
      <p:sp>
        <p:nvSpPr>
          <p:cNvPr id="18" name="Shape 14"/>
          <p:cNvSpPr/>
          <p:nvPr/>
        </p:nvSpPr>
        <p:spPr>
          <a:xfrm>
            <a:off x="428625" y="3359014"/>
            <a:ext cx="8286750" cy="142729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428625" y="3359014"/>
            <a:ext cx="8286750" cy="21431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0" name="Text 16"/>
          <p:cNvSpPr/>
          <p:nvPr/>
        </p:nvSpPr>
        <p:spPr>
          <a:xfrm>
            <a:off x="428625" y="3854779"/>
            <a:ext cx="6357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Próximo Passo</a:t>
            </a:r>
            <a:endParaRPr lang="en-US" sz="987" dirty="0"/>
          </a:p>
        </p:txBody>
      </p:sp>
      <p:sp>
        <p:nvSpPr>
          <p:cNvPr id="21" name="Text 17"/>
          <p:cNvSpPr/>
          <p:nvPr/>
        </p:nvSpPr>
        <p:spPr>
          <a:xfrm>
            <a:off x="428625" y="4154816"/>
            <a:ext cx="6357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Participe da revolução da comunicação simbiótica. Contribua para a pesquisa, desenvolva aplicações ou integre o protocolo aos seus sistemas.</a:t>
            </a:r>
            <a:endParaRPr lang="en-US" sz="727" dirty="0"/>
          </a:p>
        </p:txBody>
      </p:sp>
      <p:sp>
        <p:nvSpPr>
          <p:cNvPr id="22" name="Shape 18"/>
          <p:cNvSpPr/>
          <p:nvPr/>
        </p:nvSpPr>
        <p:spPr>
          <a:xfrm>
            <a:off x="7000875" y="3523320"/>
            <a:ext cx="1714500" cy="614363"/>
          </a:xfrm>
          <a:prstGeom prst="rect">
            <a:avLst/>
          </a:prstGeom>
          <a:solidFill>
            <a:srgbClr val="F0F7FF"/>
          </a:solidFill>
          <a:ln w="18288">
            <a:solidFill>
              <a:srgbClr val="0066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15175" y="3680482"/>
            <a:ext cx="1485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FF"/>
                </a:solidFill>
              </a:rPr>
              <a:t>Junte-se Agora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7115175" y="3894795"/>
            <a:ext cx="14859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NeoChain Foundation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7772400" y="4223407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3366"/>
                </a:solidFill>
              </a:rPr>
              <a:t>↓</a:t>
            </a:r>
            <a:endParaRPr lang="en-US" sz="1193" dirty="0"/>
          </a:p>
        </p:txBody>
      </p:sp>
      <p:sp>
        <p:nvSpPr>
          <p:cNvPr id="26" name="Text 22"/>
          <p:cNvSpPr/>
          <p:nvPr/>
        </p:nvSpPr>
        <p:spPr>
          <a:xfrm>
            <a:off x="7429333" y="4566307"/>
            <a:ext cx="85755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O Futuro da Confiança</a:t>
            </a:r>
            <a:pPr algn="ctr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Começa com Você</a:t>
            </a:r>
            <a:endParaRPr lang="en-US" sz="5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487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1250156" y="1244157"/>
            <a:ext cx="2286000" cy="29565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86313" y="428625"/>
            <a:ext cx="392906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O Futuro da Comunicação Começa Agora</a:t>
            </a:r>
            <a:endParaRPr lang="en-US" sz="1808" dirty="0"/>
          </a:p>
        </p:txBody>
      </p:sp>
      <p:sp>
        <p:nvSpPr>
          <p:cNvPr id="5" name="Text 1"/>
          <p:cNvSpPr/>
          <p:nvPr/>
        </p:nvSpPr>
        <p:spPr>
          <a:xfrm>
            <a:off x="4786313" y="1274434"/>
            <a:ext cx="3929063" cy="115723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O 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NeoSigm Protocol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 é mais do que uma inovação 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tecnológica. É a 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fundação para a confiança descentralizada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 na era da simbiose Humano-Máquina, transformando a 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comunicação inter-inteligência em um ato 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auditável, 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0066FF"/>
                </a:solidFill>
              </a:rPr>
              <a:t>imutável e universal</a:t>
            </a: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.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786313" y="3481797"/>
            <a:ext cx="39290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</a:rPr>
              <a:t>Junte-se ao Movimento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4786313" y="3717541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FF"/>
                </a:solidFill>
              </a:rPr>
              <a:t>NeoChain Foundation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4786313" y="3946141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FF"/>
                </a:solidFill>
              </a:rPr>
              <a:t>contact@neosigm.protocol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4786313" y="4174741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FF"/>
                </a:solidFill>
              </a:rPr>
              <a:t>www.neosigm.protocol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4786313" y="4517641"/>
            <a:ext cx="3929063" cy="498611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Estabeleça o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366"/>
                </a:solidFill>
              </a:rPr>
              <a:t>Padrão Universal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para a Cidadania Digital Simbiótica. O futuro da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confiança é axiomático, imutável e para todos.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2025-11-21T14:27:34Z</dcterms:created>
  <dcterms:modified xsi:type="dcterms:W3CDTF">2025-11-21T14:27:34Z</dcterms:modified>
</cp:coreProperties>
</file>